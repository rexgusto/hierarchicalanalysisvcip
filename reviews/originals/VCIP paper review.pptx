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409fb20bb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409fb20bb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25e5edd0869875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25e5edd0869875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409fb20bb2b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409fb20bb2b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409fb20bb2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409fb20bb2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409fb20bb2b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409fb20bb2b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409fb20bb2b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409fb20bb2b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409fb20bb2b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409fb20bb2b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409fb20bb2b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409fb20bb2b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409fb20bb2b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409fb20bb2b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409fb20bb2b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409fb20bb2b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043470"/>
            <a:ext cx="8520600" cy="59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d" sz="2885"/>
              <a:t>Hierarchical Paper Review</a:t>
            </a:r>
            <a:endParaRPr sz="2885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70746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600"/>
              <a:t>28 Apr 2026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0" y="162025"/>
            <a:ext cx="8520600" cy="7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3200"/>
              <a:t>VCIP Reviews (Summarized)</a:t>
            </a:r>
            <a:endParaRPr sz="3200"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869725"/>
            <a:ext cx="8520600" cy="41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Small additions: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Char char="○"/>
            </a:pPr>
            <a:r>
              <a:rPr lang="id" sz="1400">
                <a:solidFill>
                  <a:srgbClr val="CC0000"/>
                </a:solidFill>
              </a:rPr>
              <a:t>Other clustering algorithm (No space for figure)</a:t>
            </a:r>
            <a:endParaRPr sz="1400">
              <a:solidFill>
                <a:srgbClr val="CC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d" sz="1400"/>
              <a:t>Pseudo-hierarchy construction procedure</a:t>
            </a:r>
            <a:endParaRPr sz="14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Char char="■"/>
            </a:pPr>
            <a:r>
              <a:rPr lang="id" sz="1400">
                <a:solidFill>
                  <a:srgbClr val="6AA84F"/>
                </a:solidFill>
              </a:rPr>
              <a:t>Explain padding + reassignment</a:t>
            </a:r>
            <a:endParaRPr sz="1400">
              <a:solidFill>
                <a:srgbClr val="6AA84F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Char char="■"/>
            </a:pPr>
            <a:r>
              <a:rPr lang="id" sz="1400">
                <a:solidFill>
                  <a:srgbClr val="CC0000"/>
                </a:solidFill>
              </a:rPr>
              <a:t>Pseudo-code (No space for figure)</a:t>
            </a:r>
            <a:endParaRPr sz="1400">
              <a:solidFill>
                <a:srgbClr val="CC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Char char="○"/>
            </a:pPr>
            <a:r>
              <a:rPr lang="id" sz="1400">
                <a:solidFill>
                  <a:srgbClr val="F1C232"/>
                </a:solidFill>
              </a:rPr>
              <a:t>Mean/std across seeds (Across LRs, not seeds)</a:t>
            </a:r>
            <a:endParaRPr sz="1400">
              <a:solidFill>
                <a:srgbClr val="F1C23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1C232"/>
              </a:buClr>
              <a:buSzPts val="1400"/>
              <a:buChar char="○"/>
            </a:pPr>
            <a:r>
              <a:rPr lang="id" sz="1400">
                <a:solidFill>
                  <a:srgbClr val="F1C232"/>
                </a:solidFill>
              </a:rPr>
              <a:t>Parameters/FLOPs/time/memory/scalability (Partially, only added the parameters)</a:t>
            </a:r>
            <a:endParaRPr sz="1400">
              <a:solidFill>
                <a:srgbClr val="F1C23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Char char="○"/>
            </a:pPr>
            <a:r>
              <a:rPr lang="id" sz="1400">
                <a:solidFill>
                  <a:srgbClr val="CC0000"/>
                </a:solidFill>
              </a:rPr>
              <a:t>Limitation section for HPH (No Space for extra section)</a:t>
            </a:r>
            <a:endParaRPr sz="1400">
              <a:solidFill>
                <a:srgbClr val="CC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Char char="○"/>
            </a:pPr>
            <a:r>
              <a:rPr lang="id" sz="1400">
                <a:solidFill>
                  <a:srgbClr val="CC0000"/>
                </a:solidFill>
              </a:rPr>
              <a:t>Pseudo-hierarchy construction time</a:t>
            </a:r>
            <a:endParaRPr sz="1400">
              <a:solidFill>
                <a:srgbClr val="CC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Clarification: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Char char="○"/>
            </a:pPr>
            <a:r>
              <a:rPr lang="id" sz="1400">
                <a:solidFill>
                  <a:srgbClr val="6AA84F"/>
                </a:solidFill>
              </a:rPr>
              <a:t>Poor initialization of pretrained features</a:t>
            </a:r>
            <a:endParaRPr sz="1400">
              <a:solidFill>
                <a:srgbClr val="6AA84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Char char="○"/>
            </a:pPr>
            <a:r>
              <a:rPr lang="id" sz="1400">
                <a:solidFill>
                  <a:srgbClr val="6AA84F"/>
                </a:solidFill>
              </a:rPr>
              <a:t>Loss clarification</a:t>
            </a:r>
            <a:endParaRPr sz="1400">
              <a:solidFill>
                <a:srgbClr val="6AA84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Char char="○"/>
            </a:pPr>
            <a:r>
              <a:rPr lang="id" sz="1400">
                <a:solidFill>
                  <a:srgbClr val="6AA84F"/>
                </a:solidFill>
              </a:rPr>
              <a:t>Hyperparameter selection</a:t>
            </a:r>
            <a:endParaRPr sz="1400">
              <a:solidFill>
                <a:srgbClr val="6AA84F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Char char="○"/>
            </a:pPr>
            <a:r>
              <a:rPr lang="id" sz="1400">
                <a:solidFill>
                  <a:srgbClr val="6AA84F"/>
                </a:solidFill>
              </a:rPr>
              <a:t>Symbols, abbreviations, and module names are defined at their first occurrence</a:t>
            </a:r>
            <a:endParaRPr sz="1400">
              <a:solidFill>
                <a:srgbClr val="6AA84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Future Works: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d" sz="1400"/>
              <a:t>Apply to dataset(s) other than leaves, such as Dogs or Pets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d" sz="1400"/>
              <a:t>Scalability to larger numbers of fine-grained classes</a:t>
            </a:r>
            <a:endParaRPr sz="1600"/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9999025" y="909175"/>
            <a:ext cx="521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ctrTitle"/>
          </p:nvPr>
        </p:nvSpPr>
        <p:spPr>
          <a:xfrm>
            <a:off x="311700" y="162025"/>
            <a:ext cx="8520600" cy="7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3200"/>
              <a:t>Review 1</a:t>
            </a:r>
            <a:endParaRPr sz="3200"/>
          </a:p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311700" y="869725"/>
            <a:ext cx="8520600" cy="41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3. [Justification of rating]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d" sz="1600"/>
              <a:t>This paper presents a solution that groups semantically-related fine-grained classes together avoiding human hierarchical annotation. The conclusions on the low-resource classes are limited and are only valid for the tested datasets.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4. [Additional comments] Minor suggestions, questions, corrections, etc. that can help the authors improve the paper, if any.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d" sz="1600"/>
              <a:t>Avoid sing bold in the text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Nothing can be done for revision since the comment above needs to add new experiment/data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9999025" y="909175"/>
            <a:ext cx="521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ctrTitle"/>
          </p:nvPr>
        </p:nvSpPr>
        <p:spPr>
          <a:xfrm>
            <a:off x="311700" y="162025"/>
            <a:ext cx="8520600" cy="7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3200"/>
              <a:t>Review 2</a:t>
            </a:r>
            <a:endParaRPr sz="3200"/>
          </a:p>
        </p:txBody>
      </p:sp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311700" y="869725"/>
            <a:ext cx="8520600" cy="41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3. [Justification of rating]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d" sz="1600"/>
              <a:t>1) How does the proposed method handle poor initialization of pretrained features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d" sz="1600"/>
              <a:t>2) In Section 3B the author mentioned that a two-level hierarchy has been formed, what about larger dataset that requires larger number of levels has not been fully addressed.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d" sz="1600"/>
              <a:t>3) It's not fully explained how the classification losses are balanced between different levels.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d" sz="1600"/>
              <a:t>4) Might be worth discussing if the proposed method could be applied to other dataset not just agricultural. </a:t>
            </a:r>
            <a:endParaRPr sz="1600"/>
          </a:p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9999025" y="909175"/>
            <a:ext cx="521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ctrTitle"/>
          </p:nvPr>
        </p:nvSpPr>
        <p:spPr>
          <a:xfrm>
            <a:off x="311700" y="162025"/>
            <a:ext cx="8520600" cy="7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3200"/>
              <a:t>Review 2</a:t>
            </a:r>
            <a:endParaRPr sz="3200"/>
          </a:p>
        </p:txBody>
      </p:sp>
      <p:sp>
        <p:nvSpPr>
          <p:cNvPr id="85" name="Google Shape;85;p17"/>
          <p:cNvSpPr txBox="1"/>
          <p:nvPr>
            <p:ph idx="1" type="subTitle"/>
          </p:nvPr>
        </p:nvSpPr>
        <p:spPr>
          <a:xfrm>
            <a:off x="311700" y="869725"/>
            <a:ext cx="8520600" cy="41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1) How does the proposed method handle poor initialization of pretrained features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d" sz="1600"/>
              <a:t>HPH doesn’t assume perfect representation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d" sz="1600"/>
              <a:t>Even though, if representation captures class relationship poorly, the hierarchy is less meaningful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d" sz="1600"/>
              <a:t>The hierarchy is used as a learning method to enable </a:t>
            </a:r>
            <a:r>
              <a:rPr lang="id" sz="1600"/>
              <a:t>curriculum</a:t>
            </a:r>
            <a:r>
              <a:rPr lang="id" sz="1600"/>
              <a:t> learning rather than making a “correct” hierarchy</a:t>
            </a:r>
            <a:endParaRPr sz="1600"/>
          </a:p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9999025" y="909175"/>
            <a:ext cx="521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ctrTitle"/>
          </p:nvPr>
        </p:nvSpPr>
        <p:spPr>
          <a:xfrm>
            <a:off x="311700" y="162025"/>
            <a:ext cx="8520600" cy="7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3200"/>
              <a:t>Review 2</a:t>
            </a:r>
            <a:endParaRPr sz="3200"/>
          </a:p>
        </p:txBody>
      </p:sp>
      <p:sp>
        <p:nvSpPr>
          <p:cNvPr id="93" name="Google Shape;93;p18"/>
          <p:cNvSpPr txBox="1"/>
          <p:nvPr>
            <p:ph idx="1" type="subTitle"/>
          </p:nvPr>
        </p:nvSpPr>
        <p:spPr>
          <a:xfrm>
            <a:off x="311700" y="869725"/>
            <a:ext cx="8520600" cy="41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2) In Section 3B the author mentioned that a two-level hierarchy has been formed, what about larger dataset that requires larger number of levels has not been fully addressed.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d" sz="1600"/>
              <a:t>Requires new data/experiment, not applicable in this case?</a:t>
            </a:r>
            <a:endParaRPr sz="1600"/>
          </a:p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9999025" y="909175"/>
            <a:ext cx="521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ctrTitle"/>
          </p:nvPr>
        </p:nvSpPr>
        <p:spPr>
          <a:xfrm>
            <a:off x="311700" y="162025"/>
            <a:ext cx="8520600" cy="7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3200"/>
              <a:t>Review 2</a:t>
            </a:r>
            <a:endParaRPr sz="3200"/>
          </a:p>
        </p:txBody>
      </p:sp>
      <p:sp>
        <p:nvSpPr>
          <p:cNvPr id="101" name="Google Shape;101;p19"/>
          <p:cNvSpPr txBox="1"/>
          <p:nvPr>
            <p:ph idx="1" type="subTitle"/>
          </p:nvPr>
        </p:nvSpPr>
        <p:spPr>
          <a:xfrm>
            <a:off x="311700" y="869725"/>
            <a:ext cx="8520600" cy="41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3) It's not fully explained how the classification losses are balanced between different levels.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d" sz="1600"/>
              <a:t>Add the L_hierarchy = L_lvl1 + L_lvl2 + L_final formula from Chang et al. paper</a:t>
            </a:r>
            <a:endParaRPr sz="1600"/>
          </a:p>
        </p:txBody>
      </p:sp>
      <p:sp>
        <p:nvSpPr>
          <p:cNvPr id="102" name="Google Shape;10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9999025" y="909175"/>
            <a:ext cx="521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ctrTitle"/>
          </p:nvPr>
        </p:nvSpPr>
        <p:spPr>
          <a:xfrm>
            <a:off x="311700" y="162025"/>
            <a:ext cx="8520600" cy="7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3200"/>
              <a:t>Review 2</a:t>
            </a:r>
            <a:endParaRPr sz="3200"/>
          </a:p>
        </p:txBody>
      </p:sp>
      <p:sp>
        <p:nvSpPr>
          <p:cNvPr id="109" name="Google Shape;109;p20"/>
          <p:cNvSpPr txBox="1"/>
          <p:nvPr>
            <p:ph idx="1" type="subTitle"/>
          </p:nvPr>
        </p:nvSpPr>
        <p:spPr>
          <a:xfrm>
            <a:off x="311700" y="869725"/>
            <a:ext cx="8520600" cy="41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d" sz="1600"/>
              <a:t>4) Might be worth discussing if the proposed method could be applied to other dataset not just agricultural. 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d" sz="1600"/>
              <a:t>Similar to 2nd comment, needs new data/experiment</a:t>
            </a:r>
            <a:endParaRPr sz="1600"/>
          </a:p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9999025" y="909175"/>
            <a:ext cx="521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ctrTitle"/>
          </p:nvPr>
        </p:nvSpPr>
        <p:spPr>
          <a:xfrm>
            <a:off x="311700" y="162025"/>
            <a:ext cx="8520600" cy="7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3200"/>
              <a:t>Review 3</a:t>
            </a:r>
            <a:endParaRPr sz="3200"/>
          </a:p>
        </p:txBody>
      </p:sp>
      <p:sp>
        <p:nvSpPr>
          <p:cNvPr id="117" name="Google Shape;117;p21"/>
          <p:cNvSpPr txBox="1"/>
          <p:nvPr>
            <p:ph idx="1" type="subTitle"/>
          </p:nvPr>
        </p:nvSpPr>
        <p:spPr>
          <a:xfrm>
            <a:off x="311700" y="869725"/>
            <a:ext cx="8520600" cy="41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d" sz="1600"/>
              <a:t>3. [Justification of rating]</a:t>
            </a:r>
            <a:endParaRPr sz="1600"/>
          </a:p>
          <a:p>
            <a:pPr indent="-31496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d" sz="1600"/>
              <a:t>1.The methodological novelty is moderate because the approach mainly combines established components: pretrained features, class centroids, distance-based grouping, Hungarian matching, and hierarchical multi-task classification.</a:t>
            </a:r>
            <a:endParaRPr sz="1600"/>
          </a:p>
          <a:p>
            <a:pPr indent="-31496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d" sz="1600"/>
              <a:t>2.The paper does not directly compare HPH with conventional alternatives for automatic pseudo-hierarchy construction, such as centroid-based clustering or hierarchical clustering.</a:t>
            </a:r>
            <a:endParaRPr sz="1600"/>
          </a:p>
          <a:p>
            <a:pPr indent="-31496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d" sz="1600"/>
              <a:t>3.The pseudo-hierarchy construction procedure is not fully specified, particularly the padding strategy for the distance matrix and the reassignment rule for classes matched to padded columns.</a:t>
            </a:r>
            <a:endParaRPr sz="1600"/>
          </a:p>
          <a:p>
            <a:pPr indent="-31496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d" sz="1600"/>
              <a:t>4.The experiments report best Top-1 accuracy but do not provide repeated-run statistics, such as mean and standard deviation, which is especially relevant in extremely low-resource settings.</a:t>
            </a:r>
            <a:endParaRPr sz="1600"/>
          </a:p>
          <a:p>
            <a:pPr indent="-31496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d" sz="1600"/>
              <a:t>5.The hyperparameter-selection procedure requires clarification. The paper tests seven cluster ratios on SoyLocal but evaluates only 70% and 90% on Cotton and SoyAgeing-R1, and the protocol for selecting optimizer and learning-rate settings is not fully detailed.</a:t>
            </a:r>
            <a:endParaRPr sz="1600"/>
          </a:p>
          <a:p>
            <a:pPr indent="-31496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d" sz="1600"/>
              <a:t>6.No ablation is provided to separate the contribution of Hungarian matching from the contribution of adding generic pseudo-coarse hierarchical supervision.</a:t>
            </a:r>
            <a:endParaRPr sz="1600"/>
          </a:p>
          <a:p>
            <a:pPr indent="-31496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d" sz="1600"/>
              <a:t>7.The paper does not report parameter overhead, FLOPs, pseudo-hierarchy construction time, training/inference time, memory usage, or scalability to larger class sets.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9999025" y="909175"/>
            <a:ext cx="521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ctrTitle"/>
          </p:nvPr>
        </p:nvSpPr>
        <p:spPr>
          <a:xfrm>
            <a:off x="311700" y="162025"/>
            <a:ext cx="8520600" cy="7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3200"/>
              <a:t>Review 3</a:t>
            </a:r>
            <a:endParaRPr sz="3200"/>
          </a:p>
        </p:txBody>
      </p:sp>
      <p:sp>
        <p:nvSpPr>
          <p:cNvPr id="125" name="Google Shape;125;p22"/>
          <p:cNvSpPr txBox="1"/>
          <p:nvPr>
            <p:ph idx="1" type="subTitle"/>
          </p:nvPr>
        </p:nvSpPr>
        <p:spPr>
          <a:xfrm>
            <a:off x="311700" y="869725"/>
            <a:ext cx="8520600" cy="41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d" sz="1600"/>
              <a:t>4. [Additional comments] Minor suggestions, questions, corrections, etc. that can help the authors improve the paper, if any.</a:t>
            </a:r>
            <a:endParaRPr sz="1600"/>
          </a:p>
          <a:p>
            <a:pPr indent="-30734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d" sz="1600"/>
              <a:t>1.Please provide a concise pseudocode block for the complete HPH construction procedure, including class-centroid computation, distance-matrix construction, padding, Hungarian matching, and reassignment of classes matched to padded columns.</a:t>
            </a:r>
            <a:endParaRPr sz="1600"/>
          </a:p>
          <a:p>
            <a:pPr indent="-30734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d" sz="1600"/>
              <a:t>2.Please clarify the rationale for using Hungarian matching rather than standard clustering or hierarchical clustering for pseudo-hierarchy generation, and discuss the expected effect of the matching constraint on group balance and semantic consistency.</a:t>
            </a:r>
            <a:endParaRPr sz="1600"/>
          </a:p>
          <a:p>
            <a:pPr indent="-30734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d" sz="1600"/>
              <a:t>3.Please explicitly state whether the cluster-ratio selection and all training hyperparameters are determined using a validation set. This is particularly important because the paper reports the best-performing ratios on SoyLocal.</a:t>
            </a:r>
            <a:endParaRPr sz="1600"/>
          </a:p>
          <a:p>
            <a:pPr indent="-30734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d" sz="1600"/>
              <a:t>4.Consider reporting mean and standard deviation over multiple random seeds for representative backbone models and cluster ratios, given the extremely limited number of training samples per class.</a:t>
            </a:r>
            <a:endParaRPr sz="1600"/>
          </a:p>
          <a:p>
            <a:pPr indent="-30734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d" sz="1600"/>
              <a:t>5.Consider adding a compact ablation comparing HPH with random grouping and at least one conventional centroid-based clustering baseline. This would help isolate the contribution of the Hungarian matching design.</a:t>
            </a:r>
            <a:endParaRPr sz="1600"/>
          </a:p>
          <a:p>
            <a:pPr indent="-30734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d" sz="1600"/>
              <a:t>6.Please report the computational overhead of HPH, including pseudo-hierarchy construction time and, where possible, training/inference cost relative to the non-hierarchical baseline.</a:t>
            </a:r>
            <a:endParaRPr sz="1600"/>
          </a:p>
          <a:p>
            <a:pPr indent="-30734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d" sz="1600"/>
              <a:t>7.Please ensure that all symbols, abbreviations, and module names are defined at their first occurrence, particularly those related to the hierarchical classification framework and the pseudo-label construction process.</a:t>
            </a:r>
            <a:endParaRPr sz="1600"/>
          </a:p>
          <a:p>
            <a:pPr indent="-30734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id" sz="1600"/>
              <a:t>8.The paper could benefit from a brief discussion of limitations, including sensitivity to pretrained representations, cluster-ratio choices, potential instability in very small-sample regimes, and </a:t>
            </a:r>
            <a:r>
              <a:rPr lang="id" sz="1600"/>
              <a:t>scalability to larger numbers of fine-grained classes.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6" name="Google Shape;12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9999025" y="909175"/>
            <a:ext cx="521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