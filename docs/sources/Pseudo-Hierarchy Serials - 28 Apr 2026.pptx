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677332d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677332d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677332db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677332db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677332db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677332db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677332db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677332db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629cc6a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629cc6a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629cc6ae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629cc6ae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677332db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677332db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595959"/>
                </a:solidFill>
              </a:rPr>
              <a:t>K = number of images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595959"/>
                </a:solidFill>
              </a:rPr>
              <a:t>C = number of channel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677332dbf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677332dbf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677332dbf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677332dbf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595959"/>
                </a:solidFill>
              </a:rPr>
              <a:t>It’s better in vertical :/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677332dbf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677332dbf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6bb6eb5f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6bb6eb5f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6bb6eb5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6bb6eb5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6bb6eb5f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6bb6eb5f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6bb6eb5f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6bb6eb5f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6bb6eb5f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6bb6eb5f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plot.py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043470"/>
            <a:ext cx="8520600" cy="59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d" sz="2885"/>
              <a:t>Project Progress</a:t>
            </a:r>
            <a:endParaRPr sz="2885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0746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600"/>
              <a:t>28</a:t>
            </a:r>
            <a:r>
              <a:rPr lang="id" sz="1600"/>
              <a:t> Apr 2026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Progress</a:t>
            </a:r>
            <a:endParaRPr sz="32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Renamed dataset names so that serial 32 all ends with ‘_baseline’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Renamed dataset names in serial 39 with ‘_pt_siglipv2 or ‘_pt_ig1b’ to ‘_pl’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Renamed model names so that all of them has the ‘hi’ prefix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Moved all soylocal runs from serial 32 &amp; 39 to serial 54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Made pseudo-hierarchy overview pipeline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Made Soylocal heatmap</a:t>
            </a:r>
            <a:endParaRPr sz="1600"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Serial Explanation</a:t>
            </a:r>
            <a:endParaRPr sz="3200"/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23 &amp; 24, 25 &amp; 27, 26 &amp; 28: Original runs and transferability metrics</a:t>
            </a:r>
            <a:r>
              <a:rPr lang="id" sz="1200"/>
              <a:t>(1312 runs)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>
                <a:solidFill>
                  <a:srgbClr val="38761D"/>
                </a:solidFill>
              </a:rPr>
              <a:t>23 &amp; 24</a:t>
            </a:r>
            <a:r>
              <a:rPr lang="id" sz="1200">
                <a:solidFill>
                  <a:srgbClr val="38761D"/>
                </a:solidFill>
              </a:rPr>
              <a:t>: Original hierarchical runs</a:t>
            </a:r>
            <a:r>
              <a:rPr lang="id" sz="1200"/>
              <a:t>, FT and FZ respectively. 21 models * 3 datasets * 10 LRs * 2 serials = 1260 runs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25 &amp; 27</a:t>
            </a:r>
            <a:r>
              <a:rPr lang="id" sz="1200"/>
              <a:t>: CKA, Euclid. distance, L2 norm for original runs. 21 models * 3 datasets * 2 serials = 126 runs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26 &amp; 28</a:t>
            </a:r>
            <a:r>
              <a:rPr lang="id" sz="1200"/>
              <a:t>: MSC, intra distance, inter distance for original runs. 21 models * 3 datasets * 2 serials = 126 runs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32 &amp; 39</a:t>
            </a:r>
            <a:r>
              <a:rPr lang="id" sz="1200"/>
              <a:t>: </a:t>
            </a:r>
            <a:r>
              <a:rPr b="1" lang="id" sz="1200"/>
              <a:t>Pseudo-hierarchy related </a:t>
            </a:r>
            <a:r>
              <a:rPr lang="id" sz="1200"/>
              <a:t>(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>
                <a:solidFill>
                  <a:srgbClr val="38761D"/>
                </a:solidFill>
              </a:rPr>
              <a:t>32</a:t>
            </a:r>
            <a:r>
              <a:rPr lang="id" sz="1200">
                <a:solidFill>
                  <a:srgbClr val="38761D"/>
                </a:solidFill>
              </a:rPr>
              <a:t>: Baseline (no hierarchy) runs</a:t>
            </a:r>
            <a:r>
              <a:rPr lang="id" sz="1200"/>
              <a:t>. 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id" sz="1200"/>
              <a:t>For air, cub, cars: 21 models * 3 datasets * 10 LRs = 630 runs.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>
                <a:solidFill>
                  <a:srgbClr val="38761D"/>
                </a:solidFill>
              </a:rPr>
              <a:t>39</a:t>
            </a:r>
            <a:r>
              <a:rPr lang="id" sz="1200">
                <a:solidFill>
                  <a:srgbClr val="38761D"/>
                </a:solidFill>
              </a:rPr>
              <a:t>: Pseudo-hierarchy runs.</a:t>
            </a:r>
            <a:r>
              <a:rPr lang="id" sz="1200"/>
              <a:t> 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id" sz="1200"/>
              <a:t>For air, cub, cars: 1 models * 3 datasets * 10 LRs * 7 ratios * 2 settings = 420 runs. (2 settings: IG1b extractor with IG1b run, Siglipv2 extractor with IG1b run)</a:t>
            </a:r>
            <a:endParaRPr sz="1200">
              <a:solidFill>
                <a:srgbClr val="1155CC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35 &amp; 36, 37 &amp; 38, 30 &amp; 31: Extra transferability metrics for hierarchy analysis</a:t>
            </a:r>
            <a:r>
              <a:rPr lang="id" sz="1200"/>
              <a:t>(378 runs)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35 &amp; 36</a:t>
            </a:r>
            <a:r>
              <a:rPr lang="id" sz="1200"/>
              <a:t>: CKA runs with intra &amp; inter distances. 21 models * 3 datasets * 2 serials = 126 runs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37 &amp; 38</a:t>
            </a:r>
            <a:r>
              <a:rPr lang="id" sz="1200"/>
              <a:t>: Same as previous set of serials, but these ones are for 2nd target. 21 models * 3 datasets * 2 serials = 126 runs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d" sz="1200"/>
              <a:t>30 &amp; 31: MSC, intra distance, inter distance on 2nd target. 21 models * 3 datasets * 2 serials = 126 runs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208 &amp; 209: Output of compute_features_norms.py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208 &amp; 209</a:t>
            </a:r>
            <a:r>
              <a:rPr lang="id" sz="1200"/>
              <a:t>: Output of compute_features_norms.py, for analysis on why some models performs better or more robust. Only 11 runs listed, I think I only ran the best-2 and worst-2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33 &amp; 34: Reruns of some models but with worse LR to see the effect in the layers (For feature visualization)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40: Pseudo-hierarchy runs on </a:t>
            </a:r>
            <a:r>
              <a:rPr b="1" lang="id" sz="1200">
                <a:solidFill>
                  <a:srgbClr val="38761D"/>
                </a:solidFill>
              </a:rPr>
              <a:t>Aircraft</a:t>
            </a:r>
            <a:r>
              <a:rPr b="1" lang="id" sz="1200"/>
              <a:t>, </a:t>
            </a:r>
            <a:r>
              <a:rPr b="1" lang="id" sz="1200">
                <a:solidFill>
                  <a:srgbClr val="CC0000"/>
                </a:solidFill>
              </a:rPr>
              <a:t>CUB, Cars</a:t>
            </a:r>
            <a:r>
              <a:rPr b="1" lang="id" sz="1200"/>
              <a:t> with less ratio (25, 50, 70). </a:t>
            </a:r>
            <a:r>
              <a:rPr lang="id" sz="1200"/>
              <a:t>3 datasets * 21 models * 3 ratios * 10 LRs = 1890 runs</a:t>
            </a:r>
            <a:endParaRPr sz="1200"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Serial Explanation</a:t>
            </a:r>
            <a:endParaRPr sz="3200"/>
          </a:p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41: </a:t>
            </a:r>
            <a:r>
              <a:rPr b="1" lang="id" sz="1200">
                <a:solidFill>
                  <a:srgbClr val="CC0000"/>
                </a:solidFill>
              </a:rPr>
              <a:t>Pseudo-hierarchy runs of CLIP</a:t>
            </a:r>
            <a:r>
              <a:rPr b="1" lang="id" sz="1200"/>
              <a:t> </a:t>
            </a:r>
            <a:r>
              <a:rPr b="1" lang="id" sz="1200">
                <a:solidFill>
                  <a:srgbClr val="CC0000"/>
                </a:solidFill>
              </a:rPr>
              <a:t>on CUB</a:t>
            </a:r>
            <a:r>
              <a:rPr b="1" lang="id" sz="1200"/>
              <a:t> with different extractors. </a:t>
            </a:r>
            <a:r>
              <a:rPr lang="id" sz="1200"/>
              <a:t>1 dataset * 20 models * 10 LRs * 1 ratio = 200 runs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51: </a:t>
            </a:r>
            <a:r>
              <a:rPr b="1" lang="id" sz="1200">
                <a:solidFill>
                  <a:srgbClr val="CC0000"/>
                </a:solidFill>
              </a:rPr>
              <a:t>Pseudo-hierarchy runs of Deit3</a:t>
            </a:r>
            <a:r>
              <a:rPr b="1" lang="id" sz="1200"/>
              <a:t> </a:t>
            </a:r>
            <a:r>
              <a:rPr b="1" lang="id" sz="1200">
                <a:solidFill>
                  <a:srgbClr val="CC0000"/>
                </a:solidFill>
              </a:rPr>
              <a:t>on Aircraft</a:t>
            </a:r>
            <a:r>
              <a:rPr b="1" lang="id" sz="1200"/>
              <a:t> with different extractors. </a:t>
            </a:r>
            <a:r>
              <a:rPr lang="id" sz="1200"/>
              <a:t>1 dataset * 20 models * 10 LRs * 1 ratio = 200 runs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62 &amp; 63, 64 &amp; 65, 66 &amp; 67, 68 &amp; 69: Comparison of baseline vs pseudo with different hparams with Deit3 on Aircraft </a:t>
            </a:r>
            <a:r>
              <a:rPr lang="id" sz="1200"/>
              <a:t>(124 runs)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62 &amp; 63</a:t>
            </a:r>
            <a:r>
              <a:rPr lang="id" sz="1200"/>
              <a:t>: </a:t>
            </a:r>
            <a:r>
              <a:rPr lang="id" sz="1200">
                <a:solidFill>
                  <a:srgbClr val="38761D"/>
                </a:solidFill>
              </a:rPr>
              <a:t>Baseline vs pseudo with different </a:t>
            </a:r>
            <a:r>
              <a:rPr i="1" lang="id" sz="1200">
                <a:solidFill>
                  <a:srgbClr val="38761D"/>
                </a:solidFill>
              </a:rPr>
              <a:t>batch_sizes</a:t>
            </a:r>
            <a:r>
              <a:rPr lang="id" sz="1200">
                <a:solidFill>
                  <a:srgbClr val="38761D"/>
                </a:solidFill>
              </a:rPr>
              <a:t>.</a:t>
            </a:r>
            <a:r>
              <a:rPr lang="id" sz="1200"/>
              <a:t> 10 batch_sizes * 2 comparison = 20 runs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64 &amp; 65</a:t>
            </a:r>
            <a:r>
              <a:rPr lang="id" sz="1200"/>
              <a:t>: </a:t>
            </a:r>
            <a:r>
              <a:rPr lang="id" sz="1200">
                <a:solidFill>
                  <a:srgbClr val="CC0000"/>
                </a:solidFill>
              </a:rPr>
              <a:t>Baseline vs pseudo with different </a:t>
            </a:r>
            <a:r>
              <a:rPr i="1" lang="id" sz="1200">
                <a:solidFill>
                  <a:srgbClr val="CC0000"/>
                </a:solidFill>
              </a:rPr>
              <a:t>epochs</a:t>
            </a:r>
            <a:r>
              <a:rPr lang="id" sz="1200">
                <a:solidFill>
                  <a:srgbClr val="CC0000"/>
                </a:solidFill>
              </a:rPr>
              <a:t>.</a:t>
            </a:r>
            <a:r>
              <a:rPr lang="id" sz="1200"/>
              <a:t> 10 epochs * 2 comparison = 20 runs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66 &amp; 67</a:t>
            </a:r>
            <a:r>
              <a:rPr lang="id" sz="1200"/>
              <a:t>: </a:t>
            </a:r>
            <a:r>
              <a:rPr lang="id" sz="1200">
                <a:solidFill>
                  <a:srgbClr val="38761D"/>
                </a:solidFill>
              </a:rPr>
              <a:t>Baseline vs pseudo with different </a:t>
            </a:r>
            <a:r>
              <a:rPr i="1" lang="id" sz="1200">
                <a:solidFill>
                  <a:srgbClr val="38761D"/>
                </a:solidFill>
              </a:rPr>
              <a:t>image_sizes</a:t>
            </a:r>
            <a:r>
              <a:rPr lang="id" sz="1200"/>
              <a:t>. 10 image_sizes * 2 comparison = 20 runs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68 &amp; 69</a:t>
            </a:r>
            <a:r>
              <a:rPr lang="id" sz="1200"/>
              <a:t>: </a:t>
            </a:r>
            <a:r>
              <a:rPr lang="id" sz="1200">
                <a:solidFill>
                  <a:srgbClr val="38761D"/>
                </a:solidFill>
              </a:rPr>
              <a:t>Baseline vs pseudo with different </a:t>
            </a:r>
            <a:r>
              <a:rPr i="1" lang="id" sz="1200">
                <a:solidFill>
                  <a:srgbClr val="38761D"/>
                </a:solidFill>
              </a:rPr>
              <a:t>augmentations</a:t>
            </a:r>
            <a:r>
              <a:rPr lang="id" sz="1200"/>
              <a:t>. 12 augs * 2 comparison = 24 runs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70</a:t>
            </a:r>
            <a:r>
              <a:rPr lang="id" sz="1200"/>
              <a:t>: </a:t>
            </a:r>
            <a:r>
              <a:rPr lang="id" sz="1200">
                <a:solidFill>
                  <a:srgbClr val="38761D"/>
                </a:solidFill>
              </a:rPr>
              <a:t>Baseline vs pseudo with different </a:t>
            </a:r>
            <a:r>
              <a:rPr i="1" lang="id" sz="1200">
                <a:solidFill>
                  <a:srgbClr val="38761D"/>
                </a:solidFill>
              </a:rPr>
              <a:t>model_sizes</a:t>
            </a:r>
            <a:r>
              <a:rPr lang="id" sz="1200"/>
              <a:t>. 4 model_sizes * 10 lrs = 40 runs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42 &amp; 43, 44 &amp; 45, 46 &amp; 47, 48 &amp; 49: Comparison of baseline vs pseudo with different hparams with CLIP on CUB </a:t>
            </a:r>
            <a:r>
              <a:rPr lang="id" sz="1200"/>
              <a:t>(84 runs)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42 &amp; 43</a:t>
            </a:r>
            <a:r>
              <a:rPr lang="id" sz="1200"/>
              <a:t>: </a:t>
            </a:r>
            <a:r>
              <a:rPr lang="id" sz="1200">
                <a:solidFill>
                  <a:srgbClr val="38761D"/>
                </a:solidFill>
              </a:rPr>
              <a:t>Baseline vs pseudo with different </a:t>
            </a:r>
            <a:r>
              <a:rPr i="1" lang="id" sz="1200">
                <a:solidFill>
                  <a:srgbClr val="38761D"/>
                </a:solidFill>
              </a:rPr>
              <a:t>batch_sizes</a:t>
            </a:r>
            <a:r>
              <a:rPr lang="id" sz="1200">
                <a:solidFill>
                  <a:srgbClr val="38761D"/>
                </a:solidFill>
              </a:rPr>
              <a:t>.</a:t>
            </a:r>
            <a:r>
              <a:rPr lang="id" sz="1200"/>
              <a:t> 10 batch_sizes * 2 comparison = 20 runs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44 &amp; 45</a:t>
            </a:r>
            <a:r>
              <a:rPr lang="id" sz="1200"/>
              <a:t>: </a:t>
            </a:r>
            <a:r>
              <a:rPr lang="id" sz="1200">
                <a:solidFill>
                  <a:srgbClr val="CC0000"/>
                </a:solidFill>
              </a:rPr>
              <a:t>Baseline vs pseudo with different </a:t>
            </a:r>
            <a:r>
              <a:rPr i="1" lang="id" sz="1200">
                <a:solidFill>
                  <a:srgbClr val="CC0000"/>
                </a:solidFill>
              </a:rPr>
              <a:t>epochs</a:t>
            </a:r>
            <a:r>
              <a:rPr lang="id" sz="1200">
                <a:solidFill>
                  <a:srgbClr val="CC0000"/>
                </a:solidFill>
              </a:rPr>
              <a:t>.</a:t>
            </a:r>
            <a:r>
              <a:rPr lang="id" sz="1200"/>
              <a:t> 10 epochs * 2 comparison = 20 runs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46 &amp; 47</a:t>
            </a:r>
            <a:r>
              <a:rPr lang="id" sz="1200"/>
              <a:t>: </a:t>
            </a:r>
            <a:r>
              <a:rPr lang="id" sz="1200">
                <a:solidFill>
                  <a:srgbClr val="38761D"/>
                </a:solidFill>
              </a:rPr>
              <a:t>Baseline vs pseudo with different </a:t>
            </a:r>
            <a:r>
              <a:rPr i="1" lang="id" sz="1200">
                <a:solidFill>
                  <a:srgbClr val="38761D"/>
                </a:solidFill>
              </a:rPr>
              <a:t>image_sizes</a:t>
            </a:r>
            <a:r>
              <a:rPr lang="id" sz="1200"/>
              <a:t>. 10 image_sizes * 2 comparison = 20 runs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48 &amp; 49</a:t>
            </a:r>
            <a:r>
              <a:rPr lang="id" sz="1200"/>
              <a:t>: </a:t>
            </a:r>
            <a:r>
              <a:rPr lang="id" sz="1200">
                <a:solidFill>
                  <a:srgbClr val="38761D"/>
                </a:solidFill>
              </a:rPr>
              <a:t>Baseline vs pseudo with different </a:t>
            </a:r>
            <a:r>
              <a:rPr i="1" lang="id" sz="1200">
                <a:solidFill>
                  <a:srgbClr val="38761D"/>
                </a:solidFill>
              </a:rPr>
              <a:t>augmentations</a:t>
            </a:r>
            <a:r>
              <a:rPr lang="id" sz="1200"/>
              <a:t>. 12 augs * 2 comparison = 24 runs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52 &amp; 53</a:t>
            </a:r>
            <a:r>
              <a:rPr lang="id" sz="1200"/>
              <a:t>: </a:t>
            </a:r>
            <a:r>
              <a:rPr b="1" lang="id" sz="1200"/>
              <a:t>Runs of pseudo with other clustering algorithm (kmeans &amp; agglomerative) (20 runs)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54: Runs with other dataset, Soylocal, </a:t>
            </a:r>
            <a:r>
              <a:rPr b="1" lang="id" sz="1200">
                <a:solidFill>
                  <a:srgbClr val="1155CC"/>
                </a:solidFill>
              </a:rPr>
              <a:t>move it here </a:t>
            </a:r>
            <a:r>
              <a:rPr b="1" lang="id" sz="1200">
                <a:solidFill>
                  <a:srgbClr val="595959"/>
                </a:solidFill>
              </a:rPr>
              <a:t>(21 models * 7 ratios * 10 lrs = 1470 pseudo + 210 baseline = 1680 runs)</a:t>
            </a:r>
            <a:endParaRPr b="1" sz="1200">
              <a:solidFill>
                <a:srgbClr val="595959"/>
              </a:solidFill>
            </a:endParaRPr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Serial Explanation</a:t>
            </a:r>
            <a:endParaRPr sz="3200"/>
          </a:p>
        </p:txBody>
      </p:sp>
      <p:sp>
        <p:nvSpPr>
          <p:cNvPr id="82" name="Google Shape;82;p17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>
                <a:solidFill>
                  <a:srgbClr val="595959"/>
                </a:solidFill>
              </a:rPr>
              <a:t>Serial 56 - 61: Various runs with different models, datasets, settings using best learning rates</a:t>
            </a:r>
            <a:endParaRPr b="1" sz="1200">
              <a:solidFill>
                <a:srgbClr val="59595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</a:pPr>
            <a:r>
              <a:rPr b="1" lang="id" sz="1200">
                <a:solidFill>
                  <a:srgbClr val="595959"/>
                </a:solidFill>
              </a:rPr>
              <a:t>Serial 56</a:t>
            </a:r>
            <a:r>
              <a:rPr lang="id" sz="1200">
                <a:solidFill>
                  <a:srgbClr val="595959"/>
                </a:solidFill>
              </a:rPr>
              <a:t>: Soylocal baseline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</a:pPr>
            <a:r>
              <a:rPr b="1" lang="id" sz="1200">
                <a:solidFill>
                  <a:srgbClr val="595959"/>
                </a:solidFill>
              </a:rPr>
              <a:t>Serial 57</a:t>
            </a:r>
            <a:r>
              <a:rPr lang="id" sz="1200">
                <a:solidFill>
                  <a:srgbClr val="595959"/>
                </a:solidFill>
              </a:rPr>
              <a:t>: Soylocal </a:t>
            </a:r>
            <a:r>
              <a:rPr lang="id" sz="1200">
                <a:solidFill>
                  <a:srgbClr val="595959"/>
                </a:solidFill>
              </a:rPr>
              <a:t>pseudo</a:t>
            </a:r>
            <a:r>
              <a:rPr lang="id" sz="1200">
                <a:solidFill>
                  <a:srgbClr val="595959"/>
                </a:solidFill>
              </a:rPr>
              <a:t> w/ 90% ratio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</a:pPr>
            <a:r>
              <a:rPr b="1" lang="id" sz="1200">
                <a:solidFill>
                  <a:srgbClr val="595959"/>
                </a:solidFill>
              </a:rPr>
              <a:t>Serial 58</a:t>
            </a:r>
            <a:r>
              <a:rPr lang="id" sz="1200">
                <a:solidFill>
                  <a:srgbClr val="595959"/>
                </a:solidFill>
              </a:rPr>
              <a:t>: Aircraft real hierarchy 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</a:pPr>
            <a:r>
              <a:rPr b="1" lang="id" sz="1200">
                <a:solidFill>
                  <a:srgbClr val="595959"/>
                </a:solidFill>
              </a:rPr>
              <a:t>Serial 59</a:t>
            </a:r>
            <a:r>
              <a:rPr lang="id" sz="1200">
                <a:solidFill>
                  <a:srgbClr val="595959"/>
                </a:solidFill>
              </a:rPr>
              <a:t>: Aircraft baseline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</a:pPr>
            <a:r>
              <a:rPr b="1" lang="id" sz="1200">
                <a:solidFill>
                  <a:srgbClr val="595959"/>
                </a:solidFill>
              </a:rPr>
              <a:t>Serial 60</a:t>
            </a:r>
            <a:r>
              <a:rPr lang="id" sz="1200">
                <a:solidFill>
                  <a:srgbClr val="595959"/>
                </a:solidFill>
              </a:rPr>
              <a:t>: Aircraft, CUB, Cars frozen w/ hierarchy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</a:pPr>
            <a:r>
              <a:rPr b="1" lang="id" sz="1200">
                <a:solidFill>
                  <a:srgbClr val="595959"/>
                </a:solidFill>
              </a:rPr>
              <a:t>Serial 61</a:t>
            </a:r>
            <a:r>
              <a:rPr lang="id" sz="1200">
                <a:solidFill>
                  <a:srgbClr val="595959"/>
                </a:solidFill>
              </a:rPr>
              <a:t>: CUB frozen baseline (no hierarchy)</a:t>
            </a:r>
            <a:endParaRPr sz="1200">
              <a:solidFill>
                <a:srgbClr val="595959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●"/>
            </a:pPr>
            <a:r>
              <a:rPr b="1" lang="id" sz="1200">
                <a:solidFill>
                  <a:srgbClr val="595959"/>
                </a:solidFill>
              </a:rPr>
              <a:t>Serial 81 - 86: Various experiments regarding other leaves datasets, </a:t>
            </a:r>
            <a:r>
              <a:rPr b="1" lang="id" sz="1200">
                <a:solidFill>
                  <a:srgbClr val="595959"/>
                </a:solidFill>
              </a:rPr>
              <a:t>they are: Cotton. SoyGlobal, SoyGene, SoyAgeing, SoyAgeing_R*</a:t>
            </a:r>
            <a:endParaRPr b="1" sz="1200">
              <a:solidFill>
                <a:srgbClr val="59595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</a:pPr>
            <a:r>
              <a:rPr b="1" lang="id" sz="1200">
                <a:solidFill>
                  <a:srgbClr val="595959"/>
                </a:solidFill>
              </a:rPr>
              <a:t>Serial 81</a:t>
            </a:r>
            <a:r>
              <a:rPr lang="id" sz="1200">
                <a:solidFill>
                  <a:srgbClr val="595959"/>
                </a:solidFill>
              </a:rPr>
              <a:t>: Using </a:t>
            </a:r>
            <a:r>
              <a:rPr lang="id" sz="1200"/>
              <a:t>train:val split 80:20 for train and eval respectively,</a:t>
            </a:r>
            <a:r>
              <a:rPr lang="id" sz="1200">
                <a:solidFill>
                  <a:srgbClr val="595959"/>
                </a:solidFill>
              </a:rPr>
              <a:t> for baseline setting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</a:pPr>
            <a:r>
              <a:rPr b="1" lang="id" sz="1200">
                <a:solidFill>
                  <a:srgbClr val="595959"/>
                </a:solidFill>
              </a:rPr>
              <a:t>Serial 82</a:t>
            </a:r>
            <a:r>
              <a:rPr lang="id" sz="1200">
                <a:solidFill>
                  <a:srgbClr val="595959"/>
                </a:solidFill>
              </a:rPr>
              <a:t>: </a:t>
            </a:r>
            <a:r>
              <a:rPr lang="id" sz="1200"/>
              <a:t>Using train:val split 80:20 for train and eval respectively, for pseudo-hierarchy setting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Serial 84</a:t>
            </a:r>
            <a:r>
              <a:rPr lang="id" sz="1200"/>
              <a:t>: Using train_val:test for train and eval respectively, for pseudo-hierarchy  but with 3 different seeds (1, 10, 100) and best learning rate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Serial 85</a:t>
            </a:r>
            <a:r>
              <a:rPr lang="id" sz="1200"/>
              <a:t>: Using train_val:test for train and eval respectively, for baseline but with 3 different seeds (1, 10, 100) and best learning rate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Serial 83</a:t>
            </a:r>
            <a:r>
              <a:rPr lang="id" sz="1200"/>
              <a:t>: Using train_val:test for train and eval respectively, for baseline setting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Serial 86</a:t>
            </a:r>
            <a:r>
              <a:rPr lang="id" sz="1200"/>
              <a:t>: Using train_val:test for train and eval respectively, for pseudo setting</a:t>
            </a:r>
            <a:endParaRPr sz="1200"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Serial Explanation</a:t>
            </a:r>
            <a:endParaRPr sz="3200"/>
          </a:p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>
                <a:solidFill>
                  <a:srgbClr val="595959"/>
                </a:solidFill>
              </a:rPr>
              <a:t>Serial 102 &amp; 103: Few example experiments w/ 3 examples: 1,3,5 img per cls, w/ Aircraft</a:t>
            </a:r>
            <a:endParaRPr b="1" sz="1200">
              <a:solidFill>
                <a:srgbClr val="59595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</a:pPr>
            <a:r>
              <a:rPr b="1" lang="id" sz="1200">
                <a:solidFill>
                  <a:srgbClr val="595959"/>
                </a:solidFill>
              </a:rPr>
              <a:t>Serial 102</a:t>
            </a:r>
            <a:r>
              <a:rPr lang="id" sz="1200">
                <a:solidFill>
                  <a:srgbClr val="595959"/>
                </a:solidFill>
              </a:rPr>
              <a:t>: Few examples baseline experiments</a:t>
            </a:r>
            <a:endParaRPr sz="1200">
              <a:solidFill>
                <a:srgbClr val="595959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Char char="○"/>
            </a:pPr>
            <a:r>
              <a:rPr b="1" lang="id" sz="1200">
                <a:solidFill>
                  <a:srgbClr val="595959"/>
                </a:solidFill>
              </a:rPr>
              <a:t>Serial 103</a:t>
            </a:r>
            <a:r>
              <a:rPr lang="id" sz="1200">
                <a:solidFill>
                  <a:srgbClr val="595959"/>
                </a:solidFill>
              </a:rPr>
              <a:t>: </a:t>
            </a:r>
            <a:r>
              <a:rPr lang="id" sz="1200"/>
              <a:t>Few examples real hierarchy experiments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d" sz="1200"/>
              <a:t>Serial 91 - 94: Same class mix &amp; hierarchical label smoothing experiments w/ Soylocal &amp; Cotton dataset w/ 90% ratio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Serial 91</a:t>
            </a:r>
            <a:r>
              <a:rPr lang="id" sz="1200"/>
              <a:t>: Pseudo-hierarchy w/ same class mix on target 1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Serial 92</a:t>
            </a:r>
            <a:r>
              <a:rPr lang="id" sz="1200"/>
              <a:t>: Pseudo-hierarchy w/ hierarchical label smoothing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Serial 93</a:t>
            </a:r>
            <a:r>
              <a:rPr lang="id" sz="1200"/>
              <a:t>: Pseudo-hierarchy w/ same class mix on target 1 and hierarchical label smoothing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d" sz="1200"/>
              <a:t>Serial 94</a:t>
            </a:r>
            <a:r>
              <a:rPr lang="id" sz="1200"/>
              <a:t>: Baseline w/ label smoothing</a:t>
            </a:r>
            <a:endParaRPr sz="1200"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Pseudo-Hierarchy Overview Pipeline</a:t>
            </a:r>
            <a:endParaRPr sz="3200"/>
          </a:p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Starts with input image which will be fed into Feature Encoder Backbone for feature extraction tensor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Feature tensor of (K, C) will be organized to (K, L), where L is number of fine-labels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First, we compute the centroids of each class, these centroids will be used to create macro-categories using the HPH algorithm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Unorganized macro-categories will be mapped back to the fine-classes</a:t>
            </a:r>
            <a:endParaRPr sz="1600"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38" y="2748151"/>
            <a:ext cx="8260126" cy="17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Soylocal heatmap</a:t>
            </a:r>
            <a:endParaRPr sz="3200"/>
          </a:p>
        </p:txBody>
      </p:sp>
      <p:sp>
        <p:nvSpPr>
          <p:cNvPr id="104" name="Google Shape;104;p20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Modified </a:t>
            </a:r>
            <a:r>
              <a:rPr lang="id" sz="1600" u="sng">
                <a:solidFill>
                  <a:schemeClr val="hlink"/>
                </a:solidFill>
                <a:hlinkClick r:id="rId3"/>
              </a:rPr>
              <a:t>plot.py</a:t>
            </a:r>
            <a:r>
              <a:rPr lang="id" sz="1600"/>
              <a:t> to add type_plot = heatmap to make the heatmap using seaborn</a:t>
            </a:r>
            <a:endParaRPr sz="1600"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5100" y="1557350"/>
            <a:ext cx="2993800" cy="27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Soylocal heatmap</a:t>
            </a:r>
            <a:endParaRPr sz="3200"/>
          </a:p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Highest mean accuracy is obtained at lr=1e-05, and second best at lr=0.01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Ideal lr is </a:t>
            </a:r>
            <a:r>
              <a:rPr lang="id" sz="1600"/>
              <a:t>usually</a:t>
            </a:r>
            <a:r>
              <a:rPr lang="id" sz="1600"/>
              <a:t> around the middle accuracy in each optimizer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Higher lr in each optimizer obtained terrible accuracy, consistent result from other dataset too</a:t>
            </a:r>
            <a:endParaRPr sz="1600"/>
          </a:p>
        </p:txBody>
      </p:sp>
      <p:sp>
        <p:nvSpPr>
          <p:cNvPr id="113" name="Google Shape;11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14" name="Google Shape;114;p21" title="heatmap_soylocal_1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3813" y="1921375"/>
            <a:ext cx="3936364" cy="307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3200"/>
              <a:t>Soylocal heatmap</a:t>
            </a:r>
            <a:endParaRPr sz="3200"/>
          </a:p>
        </p:txBody>
      </p:sp>
      <p:sp>
        <p:nvSpPr>
          <p:cNvPr id="120" name="Google Shape;120;p22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Other tha lr=5e-05, baseline for Soylocal consistently obtains lower results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Higher cluster ratios, such as 70 or 90, obtains the highest accuracy for most lrs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A more consistent </a:t>
            </a:r>
            <a:r>
              <a:rPr lang="id" sz="1600"/>
              <a:t>trend</a:t>
            </a:r>
            <a:r>
              <a:rPr lang="id" sz="1600"/>
              <a:t> of pseudo-hierarchy being better than baseline for Soylocal</a:t>
            </a:r>
            <a:endParaRPr sz="1600"/>
          </a:p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22" name="Google Shape;122;p22" title="heatmap_soyloc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3450" y="1920800"/>
            <a:ext cx="3937101" cy="307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3200"/>
              <a:t>Soylocal heatmap</a:t>
            </a:r>
            <a:endParaRPr sz="3200"/>
          </a:p>
        </p:txBody>
      </p:sp>
      <p:sp>
        <p:nvSpPr>
          <p:cNvPr id="128" name="Google Shape;128;p23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Best max accuracy is obtained by DeiT model and second </a:t>
            </a:r>
            <a:r>
              <a:rPr lang="id" sz="1600"/>
              <a:t>next</a:t>
            </a:r>
            <a:r>
              <a:rPr lang="id" sz="1600"/>
              <a:t> is by RN SwaV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Many models max accuracy drops </a:t>
            </a:r>
            <a:r>
              <a:rPr lang="id" sz="1600"/>
              <a:t>rather</a:t>
            </a:r>
            <a:r>
              <a:rPr lang="id" sz="1600"/>
              <a:t> than increases</a:t>
            </a:r>
            <a:endParaRPr sz="1600"/>
          </a:p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30" name="Google Shape;130;p23" title="soylocal_all_models_max_ac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988" y="1499675"/>
            <a:ext cx="4290026" cy="3557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 rotWithShape="1">
          <a:blip r:embed="rId4">
            <a:alphaModFix/>
          </a:blip>
          <a:srcRect b="0" l="11694" r="43261" t="12350"/>
          <a:stretch/>
        </p:blipFill>
        <p:spPr>
          <a:xfrm>
            <a:off x="-98325" y="1499675"/>
            <a:ext cx="2525325" cy="324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3200"/>
              <a:t>Soylocal heatmap</a:t>
            </a:r>
            <a:endParaRPr sz="3200"/>
          </a:p>
        </p:txBody>
      </p:sp>
      <p:sp>
        <p:nvSpPr>
          <p:cNvPr id="137" name="Google Shape;137;p24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The mean accuracies show a clearer trend of improvement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Most model shows improvement over the baseline mean accuracies</a:t>
            </a:r>
            <a:endParaRPr sz="1600"/>
          </a:p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39" name="Google Shape;139;p24" title="soylocal_all_models_mean_acc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6988" y="1499675"/>
            <a:ext cx="4290026" cy="3557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3200"/>
              <a:t>Soylocal heatmap</a:t>
            </a:r>
            <a:endParaRPr sz="3200"/>
          </a:p>
        </p:txBody>
      </p:sp>
      <p:sp>
        <p:nvSpPr>
          <p:cNvPr id="145" name="Google Shape;145;p25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For DeiT, each LRs show consistent improvement over baseline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Though, the improvement varies</a:t>
            </a:r>
            <a:endParaRPr sz="1600"/>
          </a:p>
        </p:txBody>
      </p:sp>
      <p:sp>
        <p:nvSpPr>
          <p:cNvPr id="146" name="Google Shape;14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47" name="Google Shape;147;p25" title="soylocal_hideit_base_patch16_224.fb_in1k_ratio_vs_lr_ac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5" y="1563475"/>
            <a:ext cx="3947906" cy="349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 title="soylocal_hideit_base_patch16_224.fb_in1k_ratio_vs_lr_ac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088" y="1563481"/>
            <a:ext cx="3947906" cy="3493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3200"/>
              <a:t>Soylocal heatmap</a:t>
            </a:r>
            <a:endParaRPr sz="3200"/>
          </a:p>
        </p:txBody>
      </p:sp>
      <p:sp>
        <p:nvSpPr>
          <p:cNvPr id="154" name="Google Shape;154;p26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For SwaV, it mostly shows improvement over baseline other than LR = 0.0001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With the best being in 1 particular LR</a:t>
            </a:r>
            <a:endParaRPr sz="1600"/>
          </a:p>
        </p:txBody>
      </p:sp>
      <p:sp>
        <p:nvSpPr>
          <p:cNvPr id="155" name="Google Shape;15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56" name="Google Shape;156;p26" title="soylocal_hiresnet50.in1k_swav_ratio_vs_lr_acc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637" y="1455950"/>
            <a:ext cx="4069424" cy="360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soylocal_hiresnet50.in1k_swav_ratio_vs_lr_ac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938" y="1469919"/>
            <a:ext cx="3976703" cy="3518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d" sz="3200"/>
              <a:t>Soylocal heatmap</a:t>
            </a:r>
            <a:endParaRPr sz="3200"/>
          </a:p>
        </p:txBody>
      </p:sp>
      <p:sp>
        <p:nvSpPr>
          <p:cNvPr id="163" name="Google Shape;163;p27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RN Mocov3, a contrastive learning model, best max accuracy is located in the baseline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However, pseudo-hierarchy is more robust for LR</a:t>
            </a:r>
            <a:endParaRPr sz="1600"/>
          </a:p>
        </p:txBody>
      </p:sp>
      <p:sp>
        <p:nvSpPr>
          <p:cNvPr id="164" name="Google Shape;16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pic>
        <p:nvPicPr>
          <p:cNvPr id="165" name="Google Shape;165;p27" title="soylocal_hiresnet50.in1k_mocov3_ratio_vs_lr_ac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66250"/>
            <a:ext cx="3987602" cy="352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 title="soylocal_hiresnet50.in1k_mocov3_ratio_vs_lr_ac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400" y="1466250"/>
            <a:ext cx="3987602" cy="3528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