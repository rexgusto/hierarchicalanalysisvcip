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c687290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c68729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c6872901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c6872901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06cd434b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06cd434b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06cd434b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06cd434b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06cd434b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06cd434b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06cd434b3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06cd434b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06cd434b3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06cd434b3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06cd434b3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06cd434b3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06cd434b3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06cd434b3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043470"/>
            <a:ext cx="8520600" cy="59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id" sz="2885"/>
              <a:t>ICME26 Paper Reviews</a:t>
            </a:r>
            <a:endParaRPr sz="2885"/>
          </a:p>
        </p:txBody>
      </p:sp>
      <p:sp>
        <p:nvSpPr>
          <p:cNvPr id="55" name="Google Shape;55;p13"/>
          <p:cNvSpPr txBox="1"/>
          <p:nvPr>
            <p:ph idx="1" type="subTitle"/>
          </p:nvPr>
        </p:nvSpPr>
        <p:spPr>
          <a:xfrm>
            <a:off x="311700" y="2707463"/>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d" sz="1600"/>
              <a:t>23 Feb</a:t>
            </a:r>
            <a:r>
              <a:rPr lang="id" sz="1600"/>
              <a:t> 2026</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 results</a:t>
            </a:r>
            <a:endParaRPr sz="3200"/>
          </a:p>
        </p:txBody>
      </p:sp>
      <p:sp>
        <p:nvSpPr>
          <p:cNvPr id="61" name="Google Shape;61;p14"/>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Limited but convincing or lacking in some aspects for validation and reproducibility</a:t>
            </a:r>
            <a:endParaRPr sz="1600"/>
          </a:p>
          <a:p>
            <a:pPr indent="-330200" lvl="0" marL="457200" rtl="0" algn="l">
              <a:spcBef>
                <a:spcPts val="0"/>
              </a:spcBef>
              <a:spcAft>
                <a:spcPts val="0"/>
              </a:spcAft>
              <a:buSzPts val="1600"/>
              <a:buChar char="●"/>
            </a:pPr>
            <a:r>
              <a:rPr lang="id" sz="1600"/>
              <a:t>Clear enough presentation</a:t>
            </a:r>
            <a:endParaRPr sz="1600"/>
          </a:p>
          <a:p>
            <a:pPr indent="-330200" lvl="0" marL="457200" rtl="0" algn="l">
              <a:spcBef>
                <a:spcPts val="0"/>
              </a:spcBef>
              <a:spcAft>
                <a:spcPts val="0"/>
              </a:spcAft>
              <a:buSzPts val="1600"/>
              <a:buChar char="●"/>
            </a:pPr>
            <a:r>
              <a:rPr lang="id" sz="1600"/>
              <a:t>Some missing references</a:t>
            </a:r>
            <a:endParaRPr sz="1600"/>
          </a:p>
          <a:p>
            <a:pPr indent="-330200" lvl="0" marL="457200" rtl="0" algn="l">
              <a:spcBef>
                <a:spcPts val="0"/>
              </a:spcBef>
              <a:spcAft>
                <a:spcPts val="0"/>
              </a:spcAft>
              <a:buSzPts val="1600"/>
              <a:buChar char="●"/>
            </a:pPr>
            <a:r>
              <a:rPr lang="id" sz="1600"/>
              <a:t>2 borderlines and 3 weak rejects</a:t>
            </a:r>
            <a:endParaRPr sz="1600"/>
          </a:p>
          <a:p>
            <a:pPr indent="0" lvl="0" marL="0" rtl="0" algn="l">
              <a:spcBef>
                <a:spcPts val="0"/>
              </a:spcBef>
              <a:spcAft>
                <a:spcPts val="0"/>
              </a:spcAft>
              <a:buNone/>
            </a:pPr>
            <a:r>
              <a:t/>
            </a:r>
            <a:endParaRPr sz="1600"/>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Overall Strengths </a:t>
            </a:r>
            <a:endParaRPr sz="3200"/>
          </a:p>
        </p:txBody>
      </p:sp>
      <p:sp>
        <p:nvSpPr>
          <p:cNvPr id="68" name="Google Shape;68;p15"/>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Main findings proves useful and credible</a:t>
            </a:r>
            <a:endParaRPr sz="1600"/>
          </a:p>
          <a:p>
            <a:pPr indent="-330200" lvl="1" marL="990001" rtl="0" algn="l">
              <a:spcBef>
                <a:spcPts val="0"/>
              </a:spcBef>
              <a:spcAft>
                <a:spcPts val="0"/>
              </a:spcAft>
              <a:buSzPts val="1600"/>
              <a:buChar char="○"/>
            </a:pPr>
            <a:r>
              <a:rPr lang="id" sz="1600"/>
              <a:t>Resnet more robust, ViT sensitive to hyperparameter, hierarchy reduces ADA, pseudo-hierarchies can confer similar robustness benefits without annotation</a:t>
            </a:r>
            <a:endParaRPr sz="1600"/>
          </a:p>
          <a:p>
            <a:pPr indent="-330200" lvl="0" marL="450000" rtl="0" algn="l">
              <a:spcBef>
                <a:spcPts val="0"/>
              </a:spcBef>
              <a:spcAft>
                <a:spcPts val="0"/>
              </a:spcAft>
              <a:buSzPts val="1600"/>
              <a:buChar char="●"/>
            </a:pPr>
            <a:r>
              <a:rPr lang="id" sz="1600"/>
              <a:t>ADA ratio metric is useful to assess both performance and robustness</a:t>
            </a:r>
            <a:endParaRPr sz="1600"/>
          </a:p>
          <a:p>
            <a:pPr indent="-330200" lvl="0" marL="450000" rtl="0" algn="l">
              <a:spcBef>
                <a:spcPts val="0"/>
              </a:spcBef>
              <a:spcAft>
                <a:spcPts val="0"/>
              </a:spcAft>
              <a:buSzPts val="1600"/>
              <a:buChar char="●"/>
            </a:pPr>
            <a:r>
              <a:rPr lang="id" sz="1600"/>
              <a:t>Addresses an important and practical question how backbone choice and hierarchical supervision interact to affect robustness in FGIR</a:t>
            </a:r>
            <a:endParaRPr sz="1600"/>
          </a:p>
          <a:p>
            <a:pPr indent="0" lvl="0" marL="0" rtl="0" algn="l">
              <a:spcBef>
                <a:spcPts val="0"/>
              </a:spcBef>
              <a:spcAft>
                <a:spcPts val="0"/>
              </a:spcAft>
              <a:buNone/>
            </a:pPr>
            <a:r>
              <a:t/>
            </a:r>
            <a:endParaRPr sz="1600"/>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Overall Weaknesses</a:t>
            </a:r>
            <a:endParaRPr sz="3200"/>
          </a:p>
        </p:txBody>
      </p:sp>
      <p:sp>
        <p:nvSpPr>
          <p:cNvPr id="75" name="Google Shape;75;p16"/>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0000" rtl="0" algn="l">
              <a:spcBef>
                <a:spcPts val="0"/>
              </a:spcBef>
              <a:spcAft>
                <a:spcPts val="0"/>
              </a:spcAft>
              <a:buSzPts val="1600"/>
              <a:buChar char="●"/>
            </a:pPr>
            <a:r>
              <a:rPr lang="id" sz="1600"/>
              <a:t>ADA ratio itself isn’t novel (identical to Coefficient of Variation)</a:t>
            </a:r>
            <a:endParaRPr sz="1600"/>
          </a:p>
          <a:p>
            <a:pPr indent="-330200" lvl="0" marL="450000" rtl="0" algn="l">
              <a:spcBef>
                <a:spcPts val="0"/>
              </a:spcBef>
              <a:spcAft>
                <a:spcPts val="0"/>
              </a:spcAft>
              <a:buSzPts val="1600"/>
              <a:buChar char="●"/>
            </a:pPr>
            <a:r>
              <a:rPr lang="id" sz="1600"/>
              <a:t>The Bipartite Clustering (BPH) is not explained in detail and limited in novelty</a:t>
            </a:r>
            <a:endParaRPr sz="1600"/>
          </a:p>
          <a:p>
            <a:pPr indent="-330200" lvl="0" marL="450000" rtl="0" algn="l">
              <a:spcBef>
                <a:spcPts val="0"/>
              </a:spcBef>
              <a:spcAft>
                <a:spcPts val="0"/>
              </a:spcAft>
              <a:buSzPts val="1600"/>
              <a:buChar char="●"/>
            </a:pPr>
            <a:r>
              <a:rPr lang="id" sz="1600"/>
              <a:t>Truncated </a:t>
            </a:r>
            <a:r>
              <a:rPr lang="id" sz="1600"/>
              <a:t>results</a:t>
            </a:r>
            <a:r>
              <a:rPr lang="id" sz="1600"/>
              <a:t>, only ADA is shown</a:t>
            </a:r>
            <a:endParaRPr sz="1600"/>
          </a:p>
          <a:p>
            <a:pPr indent="-330200" lvl="0" marL="450000" rtl="0" algn="l">
              <a:spcBef>
                <a:spcPts val="0"/>
              </a:spcBef>
              <a:spcAft>
                <a:spcPts val="0"/>
              </a:spcAft>
              <a:buSzPts val="1600"/>
              <a:buChar char="●"/>
            </a:pPr>
            <a:r>
              <a:rPr lang="id" sz="1600"/>
              <a:t>Limited training regimes (only 1 batch size, and generic augmentation; Only 2 hyperparams were adjusted extensively, optimizer and LR)</a:t>
            </a:r>
            <a:endParaRPr sz="1600"/>
          </a:p>
          <a:p>
            <a:pPr indent="0" lvl="0" marL="0" rtl="0" algn="l">
              <a:spcBef>
                <a:spcPts val="0"/>
              </a:spcBef>
              <a:spcAft>
                <a:spcPts val="0"/>
              </a:spcAft>
              <a:buNone/>
            </a:pPr>
            <a:r>
              <a:t/>
            </a:r>
            <a:endParaRPr sz="1600"/>
          </a:p>
        </p:txBody>
      </p:sp>
      <p:sp>
        <p:nvSpPr>
          <p:cNvPr id="76" name="Google Shape;7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Reviewer 1</a:t>
            </a:r>
            <a:endParaRPr sz="3200"/>
          </a:p>
        </p:txBody>
      </p:sp>
      <p:sp>
        <p:nvSpPr>
          <p:cNvPr id="82" name="Google Shape;82;p17"/>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Less Confident</a:t>
            </a:r>
            <a:endParaRPr sz="1600"/>
          </a:p>
          <a:p>
            <a:pPr indent="-330200" lvl="0" marL="457200" rtl="0" algn="l">
              <a:spcBef>
                <a:spcPts val="0"/>
              </a:spcBef>
              <a:spcAft>
                <a:spcPts val="0"/>
              </a:spcAft>
              <a:buSzPts val="1600"/>
              <a:buChar char="●"/>
            </a:pPr>
            <a:r>
              <a:rPr lang="id" sz="1600"/>
              <a:t>Strength:</a:t>
            </a:r>
            <a:endParaRPr sz="1600"/>
          </a:p>
          <a:p>
            <a:pPr indent="-330200" lvl="1" marL="990001" rtl="0" algn="l">
              <a:spcBef>
                <a:spcPts val="0"/>
              </a:spcBef>
              <a:spcAft>
                <a:spcPts val="0"/>
              </a:spcAft>
              <a:buSzPts val="1600"/>
              <a:buChar char="○"/>
            </a:pPr>
            <a:r>
              <a:t/>
            </a:r>
            <a:endParaRPr sz="1600"/>
          </a:p>
          <a:p>
            <a:pPr indent="-330200" lvl="0" marL="457200" rtl="0" algn="l">
              <a:spcBef>
                <a:spcPts val="0"/>
              </a:spcBef>
              <a:spcAft>
                <a:spcPts val="0"/>
              </a:spcAft>
              <a:buSzPts val="1600"/>
              <a:buChar char="●"/>
            </a:pPr>
            <a:r>
              <a:rPr lang="id" sz="1600"/>
              <a:t>Weakness:</a:t>
            </a:r>
            <a:endParaRPr sz="1600"/>
          </a:p>
          <a:p>
            <a:pPr indent="-330200" lvl="1" marL="990001" rtl="0" algn="l">
              <a:spcBef>
                <a:spcPts val="0"/>
              </a:spcBef>
              <a:spcAft>
                <a:spcPts val="0"/>
              </a:spcAft>
              <a:buSzPts val="1600"/>
              <a:buChar char="○"/>
            </a:pPr>
            <a:r>
              <a:rPr lang="id" sz="1600"/>
              <a:t>CNN only use Resnet50 variants, ViT only use ViT-B variants. Insufficient coverage of backbone networks</a:t>
            </a:r>
            <a:endParaRPr sz="1600"/>
          </a:p>
          <a:p>
            <a:pPr indent="-330200" lvl="1" marL="990001" rtl="0" algn="l">
              <a:spcBef>
                <a:spcPts val="0"/>
              </a:spcBef>
              <a:spcAft>
                <a:spcPts val="0"/>
              </a:spcAft>
              <a:buSzPts val="1600"/>
              <a:buChar char="○"/>
            </a:pPr>
            <a:r>
              <a:rPr lang="id" sz="1600"/>
              <a:t>Only two types of hyperparameters (optimizer and learning rate) were adjusted, while other hyperparameters that significantly affect the performance of FGIR—such as batch size, weight decay coefficient, data augmentation strategy, and number of training epochs—were not included.</a:t>
            </a:r>
            <a:endParaRPr sz="1600"/>
          </a:p>
        </p:txBody>
      </p:sp>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Reviewer 2</a:t>
            </a:r>
            <a:endParaRPr sz="3200"/>
          </a:p>
        </p:txBody>
      </p:sp>
      <p:sp>
        <p:nvSpPr>
          <p:cNvPr id="89" name="Google Shape;89;p18"/>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Less Confident</a:t>
            </a:r>
            <a:endParaRPr sz="1600"/>
          </a:p>
          <a:p>
            <a:pPr indent="-330200" lvl="0" marL="457200" rtl="0" algn="l">
              <a:spcBef>
                <a:spcPts val="0"/>
              </a:spcBef>
              <a:spcAft>
                <a:spcPts val="0"/>
              </a:spcAft>
              <a:buSzPts val="1600"/>
              <a:buChar char="●"/>
            </a:pPr>
            <a:r>
              <a:rPr lang="id" sz="1600"/>
              <a:t>Strength:</a:t>
            </a:r>
            <a:endParaRPr sz="1600"/>
          </a:p>
          <a:p>
            <a:pPr indent="-330200" lvl="1" marL="990001" rtl="0" algn="l">
              <a:spcBef>
                <a:spcPts val="0"/>
              </a:spcBef>
              <a:spcAft>
                <a:spcPts val="0"/>
              </a:spcAft>
              <a:buSzPts val="1600"/>
              <a:buChar char="○"/>
            </a:pPr>
            <a:r>
              <a:rPr lang="id" sz="1600"/>
              <a:t>P</a:t>
            </a:r>
            <a:r>
              <a:rPr lang="id" sz="1600"/>
              <a:t>rovides a comprehensive analysis of architectures under hierarchical constraints</a:t>
            </a:r>
            <a:endParaRPr sz="1600"/>
          </a:p>
          <a:p>
            <a:pPr indent="-330200" lvl="0" marL="457200" rtl="0" algn="l">
              <a:spcBef>
                <a:spcPts val="0"/>
              </a:spcBef>
              <a:spcAft>
                <a:spcPts val="0"/>
              </a:spcAft>
              <a:buSzPts val="1600"/>
              <a:buChar char="●"/>
            </a:pPr>
            <a:r>
              <a:rPr lang="id" sz="1600"/>
              <a:t>Weakness:</a:t>
            </a:r>
            <a:endParaRPr sz="1600"/>
          </a:p>
          <a:p>
            <a:pPr indent="-330200" lvl="1" marL="990001" rtl="0" algn="l">
              <a:spcBef>
                <a:spcPts val="0"/>
              </a:spcBef>
              <a:spcAft>
                <a:spcPts val="0"/>
              </a:spcAft>
              <a:buSzPts val="1600"/>
              <a:buChar char="○"/>
            </a:pPr>
            <a:r>
              <a:rPr lang="id" sz="1600"/>
              <a:t>'ADA ratio' is mathematically identical to the standard Coefficient of Variation</a:t>
            </a:r>
            <a:endParaRPr sz="1600"/>
          </a:p>
          <a:p>
            <a:pPr indent="-330200" lvl="1" marL="990001" rtl="0" algn="l">
              <a:spcBef>
                <a:spcPts val="0"/>
              </a:spcBef>
              <a:spcAft>
                <a:spcPts val="0"/>
              </a:spcAft>
              <a:buSzPts val="1600"/>
              <a:buChar char="○"/>
            </a:pPr>
            <a:r>
              <a:rPr lang="id" sz="1600"/>
              <a:t>Presentation issues: Figure 3 are illegible due to overlap, Reference [24] is incomplete</a:t>
            </a:r>
            <a:endParaRPr sz="1600"/>
          </a:p>
        </p:txBody>
      </p:sp>
      <p:sp>
        <p:nvSpPr>
          <p:cNvPr id="90" name="Google Shape;9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Reviewer 3</a:t>
            </a:r>
            <a:endParaRPr sz="3200"/>
          </a:p>
        </p:txBody>
      </p:sp>
      <p:sp>
        <p:nvSpPr>
          <p:cNvPr id="96" name="Google Shape;96;p19"/>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Less Confident</a:t>
            </a:r>
            <a:endParaRPr sz="1600"/>
          </a:p>
          <a:p>
            <a:pPr indent="-330200" lvl="0" marL="457200" rtl="0" algn="l">
              <a:spcBef>
                <a:spcPts val="0"/>
              </a:spcBef>
              <a:spcAft>
                <a:spcPts val="0"/>
              </a:spcAft>
              <a:buSzPts val="1600"/>
              <a:buChar char="●"/>
            </a:pPr>
            <a:r>
              <a:rPr lang="id" sz="1600"/>
              <a:t>Strength:</a:t>
            </a:r>
            <a:endParaRPr sz="1600"/>
          </a:p>
          <a:p>
            <a:pPr indent="-330200" lvl="1" marL="990001" rtl="0" algn="l">
              <a:spcBef>
                <a:spcPts val="0"/>
              </a:spcBef>
              <a:spcAft>
                <a:spcPts val="0"/>
              </a:spcAft>
              <a:buSzPts val="1600"/>
              <a:buChar char="○"/>
            </a:pPr>
            <a:r>
              <a:rPr lang="id" sz="1600"/>
              <a:t>A</a:t>
            </a:r>
            <a:r>
              <a:rPr lang="id" sz="1600"/>
              <a:t>ddresses a practical and underexplored problem in hierarchical FGIR, namely the interaction between backbone selection, hyperparameter robustness, and hierarchical supervision.</a:t>
            </a:r>
            <a:endParaRPr sz="1600"/>
          </a:p>
          <a:p>
            <a:pPr indent="-330200" lvl="1" marL="990001" rtl="0" algn="l">
              <a:spcBef>
                <a:spcPts val="0"/>
              </a:spcBef>
              <a:spcAft>
                <a:spcPts val="0"/>
              </a:spcAft>
              <a:buSzPts val="1600"/>
              <a:buChar char="○"/>
            </a:pPr>
            <a:r>
              <a:rPr lang="id" sz="1600"/>
              <a:t>ADA ratio provides a useful and intuitive metric to jointly assess performance and robustness, which is valuable for practical deployment.</a:t>
            </a:r>
            <a:endParaRPr sz="1600"/>
          </a:p>
          <a:p>
            <a:pPr indent="-330200" lvl="0" marL="457200" rtl="0" algn="l">
              <a:spcBef>
                <a:spcPts val="0"/>
              </a:spcBef>
              <a:spcAft>
                <a:spcPts val="0"/>
              </a:spcAft>
              <a:buSzPts val="1600"/>
              <a:buChar char="●"/>
            </a:pPr>
            <a:r>
              <a:rPr lang="id" sz="1600"/>
              <a:t>Weakness:</a:t>
            </a:r>
            <a:endParaRPr sz="1600"/>
          </a:p>
          <a:p>
            <a:pPr indent="-330200" lvl="1" marL="990001" rtl="0" algn="l">
              <a:spcBef>
                <a:spcPts val="0"/>
              </a:spcBef>
              <a:spcAft>
                <a:spcPts val="0"/>
              </a:spcAft>
              <a:buSzPts val="1600"/>
              <a:buChar char="○"/>
            </a:pPr>
            <a:r>
              <a:rPr lang="id" sz="1600"/>
              <a:t>The proposed pseudo-hierarchy method is relatively straightforward, and its novelty compared to existing clustering-based hierarchy construction approaches is incremental.</a:t>
            </a:r>
            <a:endParaRPr sz="1600"/>
          </a:p>
          <a:p>
            <a:pPr indent="-330200" lvl="1" marL="990001" rtl="0" algn="l">
              <a:spcBef>
                <a:spcPts val="0"/>
              </a:spcBef>
              <a:spcAft>
                <a:spcPts val="0"/>
              </a:spcAft>
              <a:buSzPts val="1600"/>
              <a:buChar char="○"/>
            </a:pPr>
            <a:r>
              <a:rPr lang="id" sz="1600"/>
              <a:t>Some conclusions (e.g., backbone–dataset alignment and ViT behavior) rely mainly on post-hoc empirical observations, without deeper mechanistic analysis.</a:t>
            </a:r>
            <a:endParaRPr sz="1600"/>
          </a:p>
        </p:txBody>
      </p:sp>
      <p:sp>
        <p:nvSpPr>
          <p:cNvPr id="97" name="Google Shape;9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Reviewer 4</a:t>
            </a:r>
            <a:endParaRPr sz="3200"/>
          </a:p>
        </p:txBody>
      </p:sp>
      <p:sp>
        <p:nvSpPr>
          <p:cNvPr id="103" name="Google Shape;103;p20"/>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Confident</a:t>
            </a:r>
            <a:endParaRPr sz="1600"/>
          </a:p>
          <a:p>
            <a:pPr indent="-330200" lvl="0" marL="457200" rtl="0" algn="l">
              <a:spcBef>
                <a:spcPts val="0"/>
              </a:spcBef>
              <a:spcAft>
                <a:spcPts val="0"/>
              </a:spcAft>
              <a:buSzPts val="1600"/>
              <a:buChar char="●"/>
            </a:pPr>
            <a:r>
              <a:rPr lang="id" sz="1600"/>
              <a:t>Strength:</a:t>
            </a:r>
            <a:endParaRPr sz="1600"/>
          </a:p>
          <a:p>
            <a:pPr indent="-330200" lvl="1" marL="990001" rtl="0" algn="l">
              <a:spcBef>
                <a:spcPts val="0"/>
              </a:spcBef>
              <a:spcAft>
                <a:spcPts val="0"/>
              </a:spcAft>
              <a:buSzPts val="1600"/>
              <a:buChar char="○"/>
            </a:pPr>
            <a:r>
              <a:rPr lang="id" sz="1600"/>
              <a:t>Main findings proves useful and credible</a:t>
            </a:r>
            <a:endParaRPr sz="1600"/>
          </a:p>
          <a:p>
            <a:pPr indent="-330200" lvl="1" marL="990001" rtl="0" algn="l">
              <a:spcBef>
                <a:spcPts val="0"/>
              </a:spcBef>
              <a:spcAft>
                <a:spcPts val="0"/>
              </a:spcAft>
              <a:buSzPts val="1600"/>
              <a:buChar char="○"/>
            </a:pPr>
            <a:r>
              <a:rPr lang="id" sz="1600"/>
              <a:t>Addresses an important and practical question how backbone choice and hierarchical supervision interact to affect robustness in FGIR </a:t>
            </a:r>
            <a:endParaRPr sz="1600"/>
          </a:p>
          <a:p>
            <a:pPr indent="-330200" lvl="0" marL="457200" rtl="0" algn="l">
              <a:spcBef>
                <a:spcPts val="0"/>
              </a:spcBef>
              <a:spcAft>
                <a:spcPts val="0"/>
              </a:spcAft>
              <a:buSzPts val="1600"/>
              <a:buChar char="●"/>
            </a:pPr>
            <a:r>
              <a:rPr lang="id" sz="1600"/>
              <a:t>Weakness:</a:t>
            </a:r>
            <a:endParaRPr sz="1600"/>
          </a:p>
          <a:p>
            <a:pPr indent="-330200" lvl="1" marL="990001" rtl="0" algn="l">
              <a:spcBef>
                <a:spcPts val="0"/>
              </a:spcBef>
              <a:spcAft>
                <a:spcPts val="0"/>
              </a:spcAft>
              <a:buSzPts val="1600"/>
              <a:buChar char="○"/>
            </a:pPr>
            <a:r>
              <a:rPr lang="id" sz="1600"/>
              <a:t>Missing references</a:t>
            </a:r>
            <a:endParaRPr sz="1600"/>
          </a:p>
          <a:p>
            <a:pPr indent="-330200" lvl="1" marL="990001" rtl="0" algn="l">
              <a:spcBef>
                <a:spcPts val="0"/>
              </a:spcBef>
              <a:spcAft>
                <a:spcPts val="0"/>
              </a:spcAft>
              <a:buSzPts val="1600"/>
              <a:buChar char="○"/>
            </a:pPr>
            <a:r>
              <a:rPr lang="id" sz="1600"/>
              <a:t>M</a:t>
            </a:r>
            <a:r>
              <a:rPr lang="id" sz="1600"/>
              <a:t>ethodological novelty is minor (ADA same as Coefficient of Variation; BPH is a straightforward, under-specified clustering approach)</a:t>
            </a:r>
            <a:endParaRPr sz="1600"/>
          </a:p>
          <a:p>
            <a:pPr indent="-330200" lvl="1" marL="990001" rtl="0" algn="l">
              <a:spcBef>
                <a:spcPts val="0"/>
              </a:spcBef>
              <a:spcAft>
                <a:spcPts val="0"/>
              </a:spcAft>
              <a:buSzPts val="1600"/>
              <a:buChar char="○"/>
            </a:pPr>
            <a:r>
              <a:rPr lang="id" sz="1600"/>
              <a:t>Truncated results (only show ADA)</a:t>
            </a:r>
            <a:endParaRPr sz="1600"/>
          </a:p>
          <a:p>
            <a:pPr indent="-330200" lvl="1" marL="990001" rtl="0" algn="l">
              <a:spcBef>
                <a:spcPts val="0"/>
              </a:spcBef>
              <a:spcAft>
                <a:spcPts val="0"/>
              </a:spcAft>
              <a:buSzPts val="1600"/>
              <a:buChar char="○"/>
            </a:pPr>
            <a:r>
              <a:rPr lang="id" sz="1600"/>
              <a:t>Hierarchical loss design is not fully described</a:t>
            </a:r>
            <a:endParaRPr sz="1600"/>
          </a:p>
          <a:p>
            <a:pPr indent="-330200" lvl="1" marL="990001" rtl="0" algn="l">
              <a:spcBef>
                <a:spcPts val="0"/>
              </a:spcBef>
              <a:spcAft>
                <a:spcPts val="0"/>
              </a:spcAft>
              <a:buSzPts val="1600"/>
              <a:buChar char="○"/>
            </a:pPr>
            <a:r>
              <a:rPr lang="id" sz="1600"/>
              <a:t>Standard hierarchical metrics are missing</a:t>
            </a:r>
            <a:endParaRPr sz="1600"/>
          </a:p>
          <a:p>
            <a:pPr indent="-330200" lvl="1" marL="990001" rtl="0" algn="l">
              <a:spcBef>
                <a:spcPts val="0"/>
              </a:spcBef>
              <a:spcAft>
                <a:spcPts val="0"/>
              </a:spcAft>
              <a:buSzPts val="1600"/>
              <a:buChar char="○"/>
            </a:pPr>
            <a:r>
              <a:rPr lang="id" sz="1600"/>
              <a:t>Comparisons to modern hierarchical baselines are absen</a:t>
            </a:r>
            <a:endParaRPr sz="1600"/>
          </a:p>
        </p:txBody>
      </p:sp>
      <p:sp>
        <p:nvSpPr>
          <p:cNvPr id="104" name="Google Shape;10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0" y="162025"/>
            <a:ext cx="8520600" cy="70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d" sz="3200"/>
              <a:t>Reviewer 5</a:t>
            </a:r>
            <a:endParaRPr sz="3200"/>
          </a:p>
        </p:txBody>
      </p:sp>
      <p:sp>
        <p:nvSpPr>
          <p:cNvPr id="110" name="Google Shape;110;p21"/>
          <p:cNvSpPr txBox="1"/>
          <p:nvPr>
            <p:ph idx="1" type="subTitle"/>
          </p:nvPr>
        </p:nvSpPr>
        <p:spPr>
          <a:xfrm>
            <a:off x="311700" y="869725"/>
            <a:ext cx="8520600" cy="4125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id" sz="1600"/>
              <a:t>Less Confident</a:t>
            </a:r>
            <a:endParaRPr sz="1600"/>
          </a:p>
          <a:p>
            <a:pPr indent="-330200" lvl="0" marL="457200" rtl="0" algn="l">
              <a:spcBef>
                <a:spcPts val="0"/>
              </a:spcBef>
              <a:spcAft>
                <a:spcPts val="0"/>
              </a:spcAft>
              <a:buSzPts val="1600"/>
              <a:buChar char="●"/>
            </a:pPr>
            <a:r>
              <a:rPr lang="id" sz="1600"/>
              <a:t>Strength:</a:t>
            </a:r>
            <a:endParaRPr sz="1600"/>
          </a:p>
          <a:p>
            <a:pPr indent="-330200" lvl="1" marL="990001" rtl="0" algn="l">
              <a:spcBef>
                <a:spcPts val="0"/>
              </a:spcBef>
              <a:spcAft>
                <a:spcPts val="0"/>
              </a:spcAft>
              <a:buSzPts val="1600"/>
              <a:buChar char="○"/>
            </a:pPr>
            <a:r>
              <a:rPr lang="id" sz="1600"/>
              <a:t>Offers actionable guidance for practitioners: discriminative ResNet variants are robust baselines; hierarchical labels reduce hyperparameter sensitivity; pseudo-hierarchies can confer robustness without manual labels.</a:t>
            </a:r>
            <a:endParaRPr sz="1600"/>
          </a:p>
          <a:p>
            <a:pPr indent="-330200" lvl="0" marL="457200" rtl="0" algn="l">
              <a:spcBef>
                <a:spcPts val="0"/>
              </a:spcBef>
              <a:spcAft>
                <a:spcPts val="0"/>
              </a:spcAft>
              <a:buSzPts val="1600"/>
              <a:buChar char="●"/>
            </a:pPr>
            <a:r>
              <a:rPr lang="id" sz="1600"/>
              <a:t>Weakness:</a:t>
            </a:r>
            <a:endParaRPr sz="1600"/>
          </a:p>
          <a:p>
            <a:pPr indent="-330200" lvl="1" marL="990001" rtl="0" algn="l">
              <a:spcBef>
                <a:spcPts val="0"/>
              </a:spcBef>
              <a:spcAft>
                <a:spcPts val="0"/>
              </a:spcAft>
              <a:buSzPts val="1600"/>
              <a:buChar char="○"/>
            </a:pPr>
            <a:r>
              <a:rPr lang="id" sz="1600"/>
              <a:t>ADA ratio is Coefficient of Variation</a:t>
            </a:r>
            <a:endParaRPr sz="1600"/>
          </a:p>
          <a:p>
            <a:pPr indent="-330200" lvl="1" marL="990001" rtl="0" algn="l">
              <a:spcBef>
                <a:spcPts val="0"/>
              </a:spcBef>
              <a:spcAft>
                <a:spcPts val="0"/>
              </a:spcAft>
              <a:buSzPts val="1600"/>
              <a:buChar char="○"/>
            </a:pPr>
            <a:r>
              <a:rPr lang="id" sz="1600"/>
              <a:t>Only a single batch size and generic augmentations are used across diverse backbones; this may disproportionately disadvantage some models (e.g., ViTs)</a:t>
            </a:r>
            <a:endParaRPr sz="1600"/>
          </a:p>
          <a:p>
            <a:pPr indent="-330200" lvl="1" marL="990001" rtl="0" algn="l">
              <a:spcBef>
                <a:spcPts val="0"/>
              </a:spcBef>
              <a:spcAft>
                <a:spcPts val="0"/>
              </a:spcAft>
              <a:buSzPts val="1600"/>
              <a:buChar char="○"/>
            </a:pPr>
            <a:r>
              <a:rPr lang="id" sz="1600"/>
              <a:t>Some figures/tables suffer from partial captions or truncation; the pseudo-hierarchy algorithm details are too brief for replication.</a:t>
            </a:r>
            <a:endParaRPr sz="1600"/>
          </a:p>
          <a:p>
            <a:pPr indent="-330200" lvl="1" marL="990001" rtl="0" algn="l">
              <a:spcBef>
                <a:spcPts val="0"/>
              </a:spcBef>
              <a:spcAft>
                <a:spcPts val="0"/>
              </a:spcAft>
              <a:buSzPts val="1600"/>
              <a:buChar char="○"/>
            </a:pPr>
            <a:r>
              <a:rPr lang="id" sz="1600"/>
              <a:t>Methodology lacks rigor in certain parts and the novelty is limited</a:t>
            </a:r>
            <a:endParaRPr sz="1600"/>
          </a:p>
          <a:p>
            <a:pPr indent="-330200" lvl="1" marL="990001" rtl="0" algn="l">
              <a:spcBef>
                <a:spcPts val="0"/>
              </a:spcBef>
              <a:spcAft>
                <a:spcPts val="0"/>
              </a:spcAft>
              <a:buSzPts val="1600"/>
              <a:buChar char="○"/>
            </a:pPr>
            <a:r>
              <a:rPr lang="id" sz="1600"/>
              <a:t>Absence of publicly available code</a:t>
            </a:r>
            <a:endParaRPr sz="1600"/>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